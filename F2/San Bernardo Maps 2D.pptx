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nton" charset="1" panose="00000500000000000000"/>
      <p:regular r:id="rId13"/>
    </p:embeddedFont>
    <p:embeddedFont>
      <p:font typeface="TT Fors" charset="1" panose="020B0003030001020000"/>
      <p:regular r:id="rId14"/>
    </p:embeddedFont>
    <p:embeddedFont>
      <p:font typeface="TT Norms Bold" charset="1" panose="02000803030000020004"/>
      <p:regular r:id="rId15"/>
    </p:embeddedFont>
    <p:embeddedFont>
      <p:font typeface="Antonio" charset="1" panose="02000503000000000000"/>
      <p:regular r:id="rId16"/>
    </p:embeddedFont>
    <p:embeddedFont>
      <p:font typeface="TT Fors Bold" charset="1" panose="020B000303000102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VAG38YqCcUk.mp4" Type="http://schemas.openxmlformats.org/officeDocument/2006/relationships/video"/><Relationship Id="rId4" Target="../media/VAG38YqCcUk.mp4" Type="http://schemas.microsoft.com/office/2007/relationships/media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9999" y="-430577"/>
            <a:ext cx="18657999" cy="11148155"/>
          </a:xfrm>
          <a:custGeom>
            <a:avLst/>
            <a:gdLst/>
            <a:ahLst/>
            <a:cxnLst/>
            <a:rect r="r" b="b" t="t" l="l"/>
            <a:pathLst>
              <a:path h="11148155" w="18657999">
                <a:moveTo>
                  <a:pt x="0" y="0"/>
                </a:moveTo>
                <a:lnTo>
                  <a:pt x="18657999" y="0"/>
                </a:lnTo>
                <a:lnTo>
                  <a:pt x="18657999" y="11148154"/>
                </a:lnTo>
                <a:lnTo>
                  <a:pt x="0" y="1114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4925">
            <a:off x="4196251" y="779611"/>
            <a:ext cx="9794250" cy="4646575"/>
            <a:chOff x="0" y="0"/>
            <a:chExt cx="2722382" cy="1291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2382" cy="1291549"/>
            </a:xfrm>
            <a:custGeom>
              <a:avLst/>
              <a:gdLst/>
              <a:ahLst/>
              <a:cxnLst/>
              <a:rect r="r" b="b" t="t" l="l"/>
              <a:pathLst>
                <a:path h="1291549" w="2722382">
                  <a:moveTo>
                    <a:pt x="0" y="0"/>
                  </a:moveTo>
                  <a:lnTo>
                    <a:pt x="2722382" y="0"/>
                  </a:lnTo>
                  <a:lnTo>
                    <a:pt x="2722382" y="1291549"/>
                  </a:lnTo>
                  <a:lnTo>
                    <a:pt x="0" y="129154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22382" cy="132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48188">
            <a:off x="5019727" y="4876765"/>
            <a:ext cx="8649855" cy="4154753"/>
            <a:chOff x="0" y="0"/>
            <a:chExt cx="2404289" cy="1154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4289" cy="1154844"/>
            </a:xfrm>
            <a:custGeom>
              <a:avLst/>
              <a:gdLst/>
              <a:ahLst/>
              <a:cxnLst/>
              <a:rect r="r" b="b" t="t" l="l"/>
              <a:pathLst>
                <a:path h="1154844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154844"/>
                  </a:lnTo>
                  <a:lnTo>
                    <a:pt x="0" y="115484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04289" cy="1192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-106436">
            <a:off x="4037041" y="1135321"/>
            <a:ext cx="10131489" cy="433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6"/>
              </a:lnSpc>
            </a:pPr>
            <a:r>
              <a:rPr lang="en-US" sz="18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SAN BERNARDO</a:t>
            </a:r>
          </a:p>
        </p:txBody>
      </p:sp>
      <p:sp>
        <p:nvSpPr>
          <p:cNvPr name="TextBox 10" id="10"/>
          <p:cNvSpPr txBox="true"/>
          <p:nvPr/>
        </p:nvSpPr>
        <p:spPr>
          <a:xfrm rot="148188">
            <a:off x="4655534" y="5385258"/>
            <a:ext cx="9397767" cy="32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7"/>
              </a:lnSpc>
              <a:spcBef>
                <a:spcPct val="0"/>
              </a:spcBef>
            </a:pPr>
            <a:r>
              <a:rPr lang="en-US" sz="1907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MAPS 2D</a:t>
            </a:r>
          </a:p>
        </p:txBody>
      </p:sp>
      <p:grpSp>
        <p:nvGrpSpPr>
          <p:cNvPr name="Group 11" id="11"/>
          <p:cNvGrpSpPr/>
          <p:nvPr/>
        </p:nvGrpSpPr>
        <p:grpSpPr>
          <a:xfrm rot="-79072">
            <a:off x="6701548" y="8573643"/>
            <a:ext cx="5500129" cy="1274872"/>
            <a:chOff x="0" y="0"/>
            <a:chExt cx="5526980" cy="12810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26980" cy="1281095"/>
            </a:xfrm>
            <a:custGeom>
              <a:avLst/>
              <a:gdLst/>
              <a:ahLst/>
              <a:cxnLst/>
              <a:rect r="r" b="b" t="t" l="l"/>
              <a:pathLst>
                <a:path h="1281095" w="5526980">
                  <a:moveTo>
                    <a:pt x="0" y="0"/>
                  </a:moveTo>
                  <a:lnTo>
                    <a:pt x="5526980" y="0"/>
                  </a:lnTo>
                  <a:lnTo>
                    <a:pt x="5526980" y="1281095"/>
                  </a:lnTo>
                  <a:lnTo>
                    <a:pt x="0" y="1281095"/>
                  </a:lnTo>
                  <a:close/>
                </a:path>
              </a:pathLst>
            </a:custGeom>
            <a:solidFill>
              <a:srgbClr val="EDE5E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526980" cy="1319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952809" y="557146"/>
            <a:ext cx="2080460" cy="588090"/>
          </a:xfrm>
          <a:custGeom>
            <a:avLst/>
            <a:gdLst/>
            <a:ahLst/>
            <a:cxnLst/>
            <a:rect r="r" b="b" t="t" l="l"/>
            <a:pathLst>
              <a:path h="588090" w="2080460">
                <a:moveTo>
                  <a:pt x="0" y="0"/>
                </a:moveTo>
                <a:lnTo>
                  <a:pt x="2080460" y="0"/>
                </a:lnTo>
                <a:lnTo>
                  <a:pt x="2080460" y="588090"/>
                </a:lnTo>
                <a:lnTo>
                  <a:pt x="0" y="588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8471" r="0" b="-12529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204" y="121157"/>
            <a:ext cx="3685452" cy="907543"/>
          </a:xfrm>
          <a:custGeom>
            <a:avLst/>
            <a:gdLst/>
            <a:ahLst/>
            <a:cxnLst/>
            <a:rect r="r" b="b" t="t" l="l"/>
            <a:pathLst>
              <a:path h="907543" w="3685452">
                <a:moveTo>
                  <a:pt x="0" y="0"/>
                </a:moveTo>
                <a:lnTo>
                  <a:pt x="3685452" y="0"/>
                </a:lnTo>
                <a:lnTo>
                  <a:pt x="3685452" y="907543"/>
                </a:lnTo>
                <a:lnTo>
                  <a:pt x="0" y="907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461120" y="345731"/>
            <a:ext cx="525567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2E2E2E"/>
                </a:solidFill>
                <a:latin typeface="TT Fors"/>
                <a:ea typeface="TT Fors"/>
                <a:cs typeface="TT Fors"/>
                <a:sym typeface="TT Fors"/>
              </a:rPr>
              <a:t>Patrocinado por:</a:t>
            </a:r>
          </a:p>
        </p:txBody>
      </p:sp>
      <p:sp>
        <p:nvSpPr>
          <p:cNvPr name="TextBox 17" id="17"/>
          <p:cNvSpPr txBox="true"/>
          <p:nvPr/>
        </p:nvSpPr>
        <p:spPr>
          <a:xfrm rot="-82834">
            <a:off x="6442679" y="8790188"/>
            <a:ext cx="6019015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 spc="-71">
                <a:solidFill>
                  <a:srgbClr val="543385"/>
                </a:solidFill>
                <a:latin typeface="TT Norms Bold"/>
                <a:ea typeface="TT Norms Bold"/>
                <a:cs typeface="TT Norms Bold"/>
                <a:sym typeface="TT Norms Bold"/>
              </a:rPr>
              <a:t>DOCENTE: RODRIGO JOSE ALVAREZ </a:t>
            </a:r>
          </a:p>
          <a:p>
            <a:pPr algn="ctr">
              <a:lnSpc>
                <a:spcPts val="2399"/>
              </a:lnSpc>
            </a:pPr>
            <a:r>
              <a:rPr lang="en-US" b="true" sz="2399" spc="-71">
                <a:solidFill>
                  <a:srgbClr val="543385"/>
                </a:solidFill>
                <a:latin typeface="TT Norms Bold"/>
                <a:ea typeface="TT Norms Bold"/>
                <a:cs typeface="TT Norms Bold"/>
                <a:sym typeface="TT Norms Bold"/>
              </a:rPr>
              <a:t>EQUIPO: ANGIELLA ALBORNOZ </a:t>
            </a:r>
          </a:p>
          <a:p>
            <a:pPr algn="ctr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2399" spc="-71">
                <a:solidFill>
                  <a:srgbClr val="543385"/>
                </a:solidFill>
                <a:latin typeface="TT Norms Bold"/>
                <a:ea typeface="TT Norms Bold"/>
                <a:cs typeface="TT Norms Bold"/>
                <a:sym typeface="TT Norms Bold"/>
              </a:rPr>
              <a:t>Y JULIAN TELLO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52145" cy="10287000"/>
            <a:chOff x="0" y="0"/>
            <a:chExt cx="118551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551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85518">
                  <a:moveTo>
                    <a:pt x="0" y="0"/>
                  </a:moveTo>
                  <a:lnTo>
                    <a:pt x="1185518" y="0"/>
                  </a:lnTo>
                  <a:lnTo>
                    <a:pt x="118551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4073" t="0" r="-73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94925">
            <a:off x="458899" y="523768"/>
            <a:ext cx="1777967" cy="926640"/>
            <a:chOff x="0" y="0"/>
            <a:chExt cx="2404289" cy="12530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4289" cy="1253067"/>
            </a:xfrm>
            <a:custGeom>
              <a:avLst/>
              <a:gdLst/>
              <a:ahLst/>
              <a:cxnLst/>
              <a:rect r="r" b="b" t="t" l="l"/>
              <a:pathLst>
                <a:path h="1253067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253067"/>
                  </a:lnTo>
                  <a:lnTo>
                    <a:pt x="0" y="12530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4289" cy="1291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148188">
            <a:off x="2246565" y="625335"/>
            <a:ext cx="1777967" cy="780945"/>
            <a:chOff x="0" y="0"/>
            <a:chExt cx="2404289" cy="10560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4289" cy="1056048"/>
            </a:xfrm>
            <a:custGeom>
              <a:avLst/>
              <a:gdLst/>
              <a:ahLst/>
              <a:cxnLst/>
              <a:rect r="r" b="b" t="t" l="l"/>
              <a:pathLst>
                <a:path h="1056048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056048"/>
                  </a:lnTo>
                  <a:lnTo>
                    <a:pt x="0" y="105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04289" cy="1094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79072">
            <a:off x="1397835" y="1463035"/>
            <a:ext cx="1641365" cy="506226"/>
            <a:chOff x="0" y="0"/>
            <a:chExt cx="4153769" cy="12810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53769" cy="1281095"/>
            </a:xfrm>
            <a:custGeom>
              <a:avLst/>
              <a:gdLst/>
              <a:ahLst/>
              <a:cxnLst/>
              <a:rect r="r" b="b" t="t" l="l"/>
              <a:pathLst>
                <a:path h="1281095" w="4153769">
                  <a:moveTo>
                    <a:pt x="0" y="0"/>
                  </a:moveTo>
                  <a:lnTo>
                    <a:pt x="4153769" y="0"/>
                  </a:lnTo>
                  <a:lnTo>
                    <a:pt x="4153769" y="1281095"/>
                  </a:lnTo>
                  <a:lnTo>
                    <a:pt x="0" y="1281095"/>
                  </a:lnTo>
                  <a:close/>
                </a:path>
              </a:pathLst>
            </a:custGeom>
            <a:solidFill>
              <a:srgbClr val="C5BA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53769" cy="1319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7652145" y="2643003"/>
            <a:ext cx="10635855" cy="0"/>
          </a:xfrm>
          <a:prstGeom prst="line">
            <a:avLst/>
          </a:prstGeom>
          <a:ln cap="flat" w="9525">
            <a:solidFill>
              <a:srgbClr val="ED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7652145" y="5297930"/>
            <a:ext cx="10635855" cy="0"/>
          </a:xfrm>
          <a:prstGeom prst="line">
            <a:avLst/>
          </a:prstGeom>
          <a:ln cap="flat" w="9525">
            <a:solidFill>
              <a:srgbClr val="ED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7652145" y="7733704"/>
            <a:ext cx="10635855" cy="0"/>
          </a:xfrm>
          <a:prstGeom prst="line">
            <a:avLst/>
          </a:prstGeom>
          <a:ln cap="flat" w="9525">
            <a:solidFill>
              <a:srgbClr val="ED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6885444" y="3086100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4" y="0"/>
                </a:lnTo>
                <a:lnTo>
                  <a:pt x="959644" y="959644"/>
                </a:lnTo>
                <a:lnTo>
                  <a:pt x="0" y="95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885444" y="5626582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4" y="0"/>
                </a:lnTo>
                <a:lnTo>
                  <a:pt x="959644" y="959644"/>
                </a:lnTo>
                <a:lnTo>
                  <a:pt x="0" y="95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885444" y="7971034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4" y="0"/>
                </a:lnTo>
                <a:lnTo>
                  <a:pt x="959644" y="959644"/>
                </a:lnTo>
                <a:lnTo>
                  <a:pt x="0" y="95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94925">
            <a:off x="504695" y="598712"/>
            <a:ext cx="1688480" cy="8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34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SAN BERNARDO</a:t>
            </a:r>
          </a:p>
        </p:txBody>
      </p:sp>
      <p:sp>
        <p:nvSpPr>
          <p:cNvPr name="TextBox 20" id="20"/>
          <p:cNvSpPr txBox="true"/>
          <p:nvPr/>
        </p:nvSpPr>
        <p:spPr>
          <a:xfrm rot="148188">
            <a:off x="2309588" y="708357"/>
            <a:ext cx="1651647" cy="62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1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MAPS 2D</a:t>
            </a:r>
          </a:p>
        </p:txBody>
      </p:sp>
      <p:sp>
        <p:nvSpPr>
          <p:cNvPr name="TextBox 21" id="21"/>
          <p:cNvSpPr txBox="true"/>
          <p:nvPr/>
        </p:nvSpPr>
        <p:spPr>
          <a:xfrm rot="-79072">
            <a:off x="1507558" y="1433910"/>
            <a:ext cx="1420605" cy="5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3"/>
              </a:lnSpc>
              <a:spcBef>
                <a:spcPct val="0"/>
              </a:spcBef>
            </a:pPr>
            <a:r>
              <a:rPr lang="en-US" sz="2973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NOV 2025</a:t>
            </a:r>
          </a:p>
        </p:txBody>
      </p:sp>
      <p:sp>
        <p:nvSpPr>
          <p:cNvPr name="TextBox 22" id="22"/>
          <p:cNvSpPr txBox="true"/>
          <p:nvPr/>
        </p:nvSpPr>
        <p:spPr>
          <a:xfrm rot="526">
            <a:off x="8036549" y="652586"/>
            <a:ext cx="10251300" cy="1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0"/>
              </a:lnSpc>
            </a:pPr>
            <a:r>
              <a:rPr lang="en-US" sz="11934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PROBLEMAS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25688" y="3487231"/>
            <a:ext cx="9894885" cy="122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483" indent="-539741" lvl="1">
              <a:lnSpc>
                <a:spcPts val="4799"/>
              </a:lnSpc>
              <a:buFont typeface="Arial"/>
              <a:buChar char="•"/>
            </a:pPr>
            <a:r>
              <a:rPr lang="en-US" sz="49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Deso</a:t>
            </a:r>
            <a:r>
              <a:rPr lang="en-US" sz="49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rientación de alumnos nuevos y antiguos.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17781" y="5845892"/>
            <a:ext cx="8443969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2" indent="-539751" lvl="1">
              <a:lnSpc>
                <a:spcPts val="5000"/>
              </a:lnSpc>
              <a:buFont typeface="Arial"/>
              <a:buChar char="•"/>
            </a:pPr>
            <a:r>
              <a:rPr lang="en-US" sz="5000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Ausencia de Soporte Digital en Emergencias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17781" y="8448694"/>
            <a:ext cx="10300552" cy="123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483" indent="-539741" lvl="1">
              <a:lnSpc>
                <a:spcPts val="4749"/>
              </a:lnSpc>
              <a:buFont typeface="Arial"/>
              <a:buChar char="•"/>
            </a:pPr>
            <a:r>
              <a:rPr lang="en-US" sz="49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Mapas actuales en 2D </a:t>
            </a:r>
          </a:p>
          <a:p>
            <a:pPr algn="l">
              <a:lnSpc>
                <a:spcPts val="4749"/>
              </a:lnSpc>
            </a:pPr>
            <a:r>
              <a:rPr lang="en-US" sz="49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      estáticos con poca visibilidad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BA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4047"/>
            <a:ext cx="18288000" cy="3432953"/>
            <a:chOff x="0" y="0"/>
            <a:chExt cx="4816593" cy="9041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04152"/>
            </a:xfrm>
            <a:custGeom>
              <a:avLst/>
              <a:gdLst/>
              <a:ahLst/>
              <a:cxnLst/>
              <a:rect r="r" b="b" t="t" l="l"/>
              <a:pathLst>
                <a:path h="9041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04152"/>
                  </a:lnTo>
                  <a:lnTo>
                    <a:pt x="0" y="90415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42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854047"/>
            <a:ext cx="8150414" cy="3427023"/>
            <a:chOff x="0" y="0"/>
            <a:chExt cx="1262712" cy="530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2712" cy="530936"/>
            </a:xfrm>
            <a:custGeom>
              <a:avLst/>
              <a:gdLst/>
              <a:ahLst/>
              <a:cxnLst/>
              <a:rect r="r" b="b" t="t" l="l"/>
              <a:pathLst>
                <a:path h="530936" w="1262712">
                  <a:moveTo>
                    <a:pt x="0" y="0"/>
                  </a:moveTo>
                  <a:lnTo>
                    <a:pt x="1262712" y="0"/>
                  </a:lnTo>
                  <a:lnTo>
                    <a:pt x="1262712" y="530936"/>
                  </a:lnTo>
                  <a:lnTo>
                    <a:pt x="0" y="530936"/>
                  </a:lnTo>
                  <a:close/>
                </a:path>
              </a:pathLst>
            </a:custGeom>
            <a:blipFill>
              <a:blip r:embed="rId2"/>
              <a:stretch>
                <a:fillRect l="-28301" t="-162472" r="-11603" b="-7026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8150414" cy="3427023"/>
            <a:chOff x="0" y="0"/>
            <a:chExt cx="1262712" cy="5309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2712" cy="530936"/>
            </a:xfrm>
            <a:custGeom>
              <a:avLst/>
              <a:gdLst/>
              <a:ahLst/>
              <a:cxnLst/>
              <a:rect r="r" b="b" t="t" l="l"/>
              <a:pathLst>
                <a:path h="530936" w="1262712">
                  <a:moveTo>
                    <a:pt x="0" y="0"/>
                  </a:moveTo>
                  <a:lnTo>
                    <a:pt x="1262712" y="0"/>
                  </a:lnTo>
                  <a:lnTo>
                    <a:pt x="1262712" y="530936"/>
                  </a:lnTo>
                  <a:lnTo>
                    <a:pt x="0" y="530936"/>
                  </a:lnTo>
                  <a:close/>
                </a:path>
              </a:pathLst>
            </a:custGeom>
            <a:blipFill>
              <a:blip r:embed="rId3"/>
              <a:stretch>
                <a:fillRect l="0" t="-122311" r="0" b="-1551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3427023"/>
            <a:ext cx="18288000" cy="3432953"/>
            <a:chOff x="0" y="0"/>
            <a:chExt cx="4816593" cy="9041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904152"/>
            </a:xfrm>
            <a:custGeom>
              <a:avLst/>
              <a:gdLst/>
              <a:ahLst/>
              <a:cxnLst/>
              <a:rect r="r" b="b" t="t" l="l"/>
              <a:pathLst>
                <a:path h="9041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04152"/>
                  </a:lnTo>
                  <a:lnTo>
                    <a:pt x="0" y="904152"/>
                  </a:lnTo>
                  <a:close/>
                </a:path>
              </a:pathLst>
            </a:custGeom>
            <a:solidFill>
              <a:srgbClr val="8F76BF">
                <a:alpha val="8784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942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37586" y="3427023"/>
            <a:ext cx="8150414" cy="3427023"/>
            <a:chOff x="0" y="0"/>
            <a:chExt cx="1262712" cy="5309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2712" cy="530936"/>
            </a:xfrm>
            <a:custGeom>
              <a:avLst/>
              <a:gdLst/>
              <a:ahLst/>
              <a:cxnLst/>
              <a:rect r="r" b="b" t="t" l="l"/>
              <a:pathLst>
                <a:path h="530936" w="1262712">
                  <a:moveTo>
                    <a:pt x="0" y="0"/>
                  </a:moveTo>
                  <a:lnTo>
                    <a:pt x="1262712" y="0"/>
                  </a:lnTo>
                  <a:lnTo>
                    <a:pt x="1262712" y="530936"/>
                  </a:lnTo>
                  <a:lnTo>
                    <a:pt x="0" y="530936"/>
                  </a:lnTo>
                  <a:close/>
                </a:path>
              </a:pathLst>
            </a:custGeom>
            <a:blipFill>
              <a:blip r:embed="rId4"/>
              <a:stretch>
                <a:fillRect l="-22263" t="-119619" r="-16037" b="-109298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846448" y="504269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4" y="0"/>
                </a:lnTo>
                <a:lnTo>
                  <a:pt x="959644" y="959644"/>
                </a:lnTo>
                <a:lnTo>
                  <a:pt x="0" y="9596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846448" y="7398246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4" y="0"/>
                </a:lnTo>
                <a:lnTo>
                  <a:pt x="959644" y="959643"/>
                </a:lnTo>
                <a:lnTo>
                  <a:pt x="0" y="9596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73753" y="3947849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4" y="0"/>
                </a:lnTo>
                <a:lnTo>
                  <a:pt x="959644" y="959644"/>
                </a:lnTo>
                <a:lnTo>
                  <a:pt x="0" y="9596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94925">
            <a:off x="458899" y="523768"/>
            <a:ext cx="1777967" cy="926640"/>
            <a:chOff x="0" y="0"/>
            <a:chExt cx="2404289" cy="12530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04289" cy="1253067"/>
            </a:xfrm>
            <a:custGeom>
              <a:avLst/>
              <a:gdLst/>
              <a:ahLst/>
              <a:cxnLst/>
              <a:rect r="r" b="b" t="t" l="l"/>
              <a:pathLst>
                <a:path h="1253067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253067"/>
                  </a:lnTo>
                  <a:lnTo>
                    <a:pt x="0" y="12530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404289" cy="1291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148188">
            <a:off x="2246565" y="625335"/>
            <a:ext cx="1777967" cy="780945"/>
            <a:chOff x="0" y="0"/>
            <a:chExt cx="2404289" cy="10560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04289" cy="1056048"/>
            </a:xfrm>
            <a:custGeom>
              <a:avLst/>
              <a:gdLst/>
              <a:ahLst/>
              <a:cxnLst/>
              <a:rect r="r" b="b" t="t" l="l"/>
              <a:pathLst>
                <a:path h="1056048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056048"/>
                  </a:lnTo>
                  <a:lnTo>
                    <a:pt x="0" y="105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404289" cy="1094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79072">
            <a:off x="1397835" y="1463035"/>
            <a:ext cx="1641365" cy="506226"/>
            <a:chOff x="0" y="0"/>
            <a:chExt cx="4153769" cy="12810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53769" cy="1281095"/>
            </a:xfrm>
            <a:custGeom>
              <a:avLst/>
              <a:gdLst/>
              <a:ahLst/>
              <a:cxnLst/>
              <a:rect r="r" b="b" t="t" l="l"/>
              <a:pathLst>
                <a:path h="1281095" w="4153769">
                  <a:moveTo>
                    <a:pt x="0" y="0"/>
                  </a:moveTo>
                  <a:lnTo>
                    <a:pt x="4153769" y="0"/>
                  </a:lnTo>
                  <a:lnTo>
                    <a:pt x="4153769" y="1281095"/>
                  </a:lnTo>
                  <a:lnTo>
                    <a:pt x="0" y="1281095"/>
                  </a:lnTo>
                  <a:close/>
                </a:path>
              </a:pathLst>
            </a:custGeom>
            <a:solidFill>
              <a:srgbClr val="C5BAF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153769" cy="1319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673753" y="530239"/>
            <a:ext cx="7993020" cy="260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3"/>
              </a:lnSpc>
            </a:pPr>
            <a:r>
              <a:rPr lang="en-US" sz="5260" spc="-152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Prototipo San Bernardo Maps 2D (App móvil con mapa interactivo)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5931" y="3876306"/>
            <a:ext cx="6275472" cy="25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50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Rutas internas simples y búsqueda de salas.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53185" y="7629524"/>
            <a:ext cx="7090493" cy="162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49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Puntos de emergencia y notificaciones.</a:t>
            </a:r>
          </a:p>
        </p:txBody>
      </p:sp>
      <p:sp>
        <p:nvSpPr>
          <p:cNvPr name="TextBox 29" id="29"/>
          <p:cNvSpPr txBox="true"/>
          <p:nvPr/>
        </p:nvSpPr>
        <p:spPr>
          <a:xfrm rot="-94925">
            <a:off x="504695" y="598712"/>
            <a:ext cx="1688480" cy="8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34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SAN BERNARDO</a:t>
            </a:r>
          </a:p>
        </p:txBody>
      </p:sp>
      <p:sp>
        <p:nvSpPr>
          <p:cNvPr name="TextBox 30" id="30"/>
          <p:cNvSpPr txBox="true"/>
          <p:nvPr/>
        </p:nvSpPr>
        <p:spPr>
          <a:xfrm rot="148188">
            <a:off x="2309588" y="708357"/>
            <a:ext cx="1651647" cy="62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1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MAPS 2D</a:t>
            </a:r>
          </a:p>
        </p:txBody>
      </p:sp>
      <p:sp>
        <p:nvSpPr>
          <p:cNvPr name="TextBox 31" id="31"/>
          <p:cNvSpPr txBox="true"/>
          <p:nvPr/>
        </p:nvSpPr>
        <p:spPr>
          <a:xfrm rot="-79072">
            <a:off x="1507558" y="1433910"/>
            <a:ext cx="1420605" cy="5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3"/>
              </a:lnSpc>
              <a:spcBef>
                <a:spcPct val="0"/>
              </a:spcBef>
            </a:pPr>
            <a:r>
              <a:rPr lang="en-US" sz="2973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NOV 2025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341708" y="2643003"/>
            <a:ext cx="17636730" cy="0"/>
          </a:xfrm>
          <a:prstGeom prst="line">
            <a:avLst/>
          </a:prstGeom>
          <a:ln cap="flat" w="9525">
            <a:solidFill>
              <a:srgbClr val="ED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325635" y="4874028"/>
            <a:ext cx="17636730" cy="0"/>
          </a:xfrm>
          <a:prstGeom prst="line">
            <a:avLst/>
          </a:prstGeom>
          <a:ln cap="flat" w="9525">
            <a:solidFill>
              <a:srgbClr val="ED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263769" y="7176903"/>
            <a:ext cx="17636730" cy="0"/>
          </a:xfrm>
          <a:prstGeom prst="line">
            <a:avLst/>
          </a:prstGeom>
          <a:ln cap="flat" w="9525">
            <a:solidFill>
              <a:srgbClr val="ED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03284" y="3086100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3" y="0"/>
                </a:lnTo>
                <a:lnTo>
                  <a:pt x="959643" y="959644"/>
                </a:lnTo>
                <a:lnTo>
                  <a:pt x="0" y="95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99821" y="5179560"/>
            <a:ext cx="7663107" cy="1705687"/>
            <a:chOff x="0" y="0"/>
            <a:chExt cx="1187216" cy="2642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7216" cy="264256"/>
            </a:xfrm>
            <a:custGeom>
              <a:avLst/>
              <a:gdLst/>
              <a:ahLst/>
              <a:cxnLst/>
              <a:rect r="r" b="b" t="t" l="l"/>
              <a:pathLst>
                <a:path h="264256" w="1187216">
                  <a:moveTo>
                    <a:pt x="0" y="0"/>
                  </a:moveTo>
                  <a:lnTo>
                    <a:pt x="1187216" y="0"/>
                  </a:lnTo>
                  <a:lnTo>
                    <a:pt x="1187216" y="264256"/>
                  </a:lnTo>
                  <a:lnTo>
                    <a:pt x="0" y="264256"/>
                  </a:lnTo>
                  <a:close/>
                </a:path>
              </a:pathLst>
            </a:custGeom>
            <a:blipFill>
              <a:blip r:embed="rId4"/>
              <a:stretch>
                <a:fillRect l="0" t="-170905" r="0" b="-17836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664178" y="5188755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4" y="0"/>
                </a:lnTo>
                <a:lnTo>
                  <a:pt x="959644" y="959644"/>
                </a:lnTo>
                <a:lnTo>
                  <a:pt x="0" y="9596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3284" y="7515170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3" y="0"/>
                </a:lnTo>
                <a:lnTo>
                  <a:pt x="959643" y="959644"/>
                </a:lnTo>
                <a:lnTo>
                  <a:pt x="0" y="95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08812" y="2896879"/>
            <a:ext cx="7361015" cy="1705687"/>
            <a:chOff x="0" y="0"/>
            <a:chExt cx="1140414" cy="2642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0414" cy="264256"/>
            </a:xfrm>
            <a:custGeom>
              <a:avLst/>
              <a:gdLst/>
              <a:ahLst/>
              <a:cxnLst/>
              <a:rect r="r" b="b" t="t" l="l"/>
              <a:pathLst>
                <a:path h="264256" w="1140414">
                  <a:moveTo>
                    <a:pt x="0" y="0"/>
                  </a:moveTo>
                  <a:lnTo>
                    <a:pt x="1140414" y="0"/>
                  </a:lnTo>
                  <a:lnTo>
                    <a:pt x="1140414" y="264256"/>
                  </a:lnTo>
                  <a:lnTo>
                    <a:pt x="0" y="264256"/>
                  </a:lnTo>
                  <a:close/>
                </a:path>
              </a:pathLst>
            </a:custGeom>
            <a:blipFill>
              <a:blip r:embed="rId7"/>
              <a:stretch>
                <a:fillRect l="0" t="-165778" r="0" b="-16577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8812" y="7515170"/>
            <a:ext cx="7361015" cy="1705687"/>
            <a:chOff x="0" y="0"/>
            <a:chExt cx="1140414" cy="2642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0414" cy="264256"/>
            </a:xfrm>
            <a:custGeom>
              <a:avLst/>
              <a:gdLst/>
              <a:ahLst/>
              <a:cxnLst/>
              <a:rect r="r" b="b" t="t" l="l"/>
              <a:pathLst>
                <a:path h="264256" w="1140414">
                  <a:moveTo>
                    <a:pt x="0" y="0"/>
                  </a:moveTo>
                  <a:lnTo>
                    <a:pt x="1140414" y="0"/>
                  </a:lnTo>
                  <a:lnTo>
                    <a:pt x="1140414" y="264256"/>
                  </a:lnTo>
                  <a:lnTo>
                    <a:pt x="0" y="264256"/>
                  </a:lnTo>
                  <a:close/>
                </a:path>
              </a:pathLst>
            </a:custGeom>
            <a:blipFill>
              <a:blip r:embed="rId8"/>
              <a:stretch>
                <a:fillRect l="0" t="-28616" r="0" b="-624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94925">
            <a:off x="14396805" y="523768"/>
            <a:ext cx="1777967" cy="926640"/>
            <a:chOff x="0" y="0"/>
            <a:chExt cx="2404289" cy="12530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04289" cy="1253067"/>
            </a:xfrm>
            <a:custGeom>
              <a:avLst/>
              <a:gdLst/>
              <a:ahLst/>
              <a:cxnLst/>
              <a:rect r="r" b="b" t="t" l="l"/>
              <a:pathLst>
                <a:path h="1253067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253067"/>
                  </a:lnTo>
                  <a:lnTo>
                    <a:pt x="0" y="12530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04289" cy="1291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148188">
            <a:off x="16184470" y="625335"/>
            <a:ext cx="1777967" cy="780945"/>
            <a:chOff x="0" y="0"/>
            <a:chExt cx="2404289" cy="10560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04289" cy="1056048"/>
            </a:xfrm>
            <a:custGeom>
              <a:avLst/>
              <a:gdLst/>
              <a:ahLst/>
              <a:cxnLst/>
              <a:rect r="r" b="b" t="t" l="l"/>
              <a:pathLst>
                <a:path h="1056048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056048"/>
                  </a:lnTo>
                  <a:lnTo>
                    <a:pt x="0" y="105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404289" cy="1094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79072">
            <a:off x="15335740" y="1463035"/>
            <a:ext cx="1641365" cy="506226"/>
            <a:chOff x="0" y="0"/>
            <a:chExt cx="4153769" cy="12810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53769" cy="1281095"/>
            </a:xfrm>
            <a:custGeom>
              <a:avLst/>
              <a:gdLst/>
              <a:ahLst/>
              <a:cxnLst/>
              <a:rect r="r" b="b" t="t" l="l"/>
              <a:pathLst>
                <a:path h="1281095" w="4153769">
                  <a:moveTo>
                    <a:pt x="0" y="0"/>
                  </a:moveTo>
                  <a:lnTo>
                    <a:pt x="4153769" y="0"/>
                  </a:lnTo>
                  <a:lnTo>
                    <a:pt x="4153769" y="1281095"/>
                  </a:lnTo>
                  <a:lnTo>
                    <a:pt x="0" y="1281095"/>
                  </a:lnTo>
                  <a:close/>
                </a:path>
              </a:pathLst>
            </a:custGeom>
            <a:solidFill>
              <a:srgbClr val="C5BAF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153769" cy="1319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526">
            <a:off x="263872" y="747232"/>
            <a:ext cx="13926292" cy="1349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9"/>
              </a:lnSpc>
            </a:pPr>
            <a:r>
              <a:rPr lang="en-US" sz="9635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PROPUESTA DE VALOR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82885" y="3277282"/>
            <a:ext cx="7319379" cy="88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9"/>
              </a:lnSpc>
            </a:pPr>
            <a:r>
              <a:rPr lang="en-US" sz="54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Rutas s</a:t>
            </a:r>
            <a:r>
              <a:rPr lang="en-US" sz="54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imples y claras.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8812" y="5090736"/>
            <a:ext cx="7789580" cy="174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5"/>
              </a:lnSpc>
            </a:pPr>
            <a:r>
              <a:rPr lang="en-US" sz="52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Soporte en emergencias (protocolo</a:t>
            </a:r>
            <a:r>
              <a:rPr lang="en-US" sz="52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s, SOS).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21019" y="7413338"/>
            <a:ext cx="7789580" cy="180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9"/>
              </a:lnSpc>
            </a:pPr>
            <a:r>
              <a:rPr lang="en-US" sz="54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Sede inf</a:t>
            </a:r>
            <a:r>
              <a:rPr lang="en-US" sz="5499">
                <a:solidFill>
                  <a:srgbClr val="EDE5E5"/>
                </a:solidFill>
                <a:latin typeface="TT Fors"/>
                <a:ea typeface="TT Fors"/>
                <a:cs typeface="TT Fors"/>
                <a:sym typeface="TT Fors"/>
              </a:rPr>
              <a:t>ormada, actualizada y segura.</a:t>
            </a:r>
          </a:p>
        </p:txBody>
      </p:sp>
      <p:sp>
        <p:nvSpPr>
          <p:cNvPr name="TextBox 27" id="27"/>
          <p:cNvSpPr txBox="true"/>
          <p:nvPr/>
        </p:nvSpPr>
        <p:spPr>
          <a:xfrm rot="-94925">
            <a:off x="14442600" y="598712"/>
            <a:ext cx="1688480" cy="8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34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SAN BERNARDO</a:t>
            </a:r>
          </a:p>
        </p:txBody>
      </p:sp>
      <p:sp>
        <p:nvSpPr>
          <p:cNvPr name="TextBox 28" id="28"/>
          <p:cNvSpPr txBox="true"/>
          <p:nvPr/>
        </p:nvSpPr>
        <p:spPr>
          <a:xfrm rot="148188">
            <a:off x="16247493" y="708357"/>
            <a:ext cx="1651647" cy="62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1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MAPS 2D</a:t>
            </a:r>
          </a:p>
        </p:txBody>
      </p:sp>
      <p:sp>
        <p:nvSpPr>
          <p:cNvPr name="TextBox 29" id="29"/>
          <p:cNvSpPr txBox="true"/>
          <p:nvPr/>
        </p:nvSpPr>
        <p:spPr>
          <a:xfrm rot="-79072">
            <a:off x="15445463" y="1433910"/>
            <a:ext cx="1420605" cy="5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3"/>
              </a:lnSpc>
              <a:spcBef>
                <a:spcPct val="0"/>
              </a:spcBef>
            </a:pPr>
            <a:r>
              <a:rPr lang="en-US" sz="2973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NOV 2025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677514" cy="10287000"/>
            <a:chOff x="0" y="0"/>
            <a:chExt cx="134437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437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44374">
                  <a:moveTo>
                    <a:pt x="0" y="0"/>
                  </a:moveTo>
                  <a:lnTo>
                    <a:pt x="1344374" y="0"/>
                  </a:lnTo>
                  <a:lnTo>
                    <a:pt x="134437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5750" t="-17387" r="-35383" b="-2697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8677514" y="2733171"/>
            <a:ext cx="9300923" cy="0"/>
          </a:xfrm>
          <a:prstGeom prst="line">
            <a:avLst/>
          </a:prstGeom>
          <a:ln cap="flat" w="9525">
            <a:solidFill>
              <a:srgbClr val="ED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601214" y="8892928"/>
            <a:ext cx="1105765" cy="633302"/>
          </a:xfrm>
          <a:custGeom>
            <a:avLst/>
            <a:gdLst/>
            <a:ahLst/>
            <a:cxnLst/>
            <a:rect r="r" b="b" t="t" l="l"/>
            <a:pathLst>
              <a:path h="633302" w="1105765">
                <a:moveTo>
                  <a:pt x="0" y="0"/>
                </a:moveTo>
                <a:lnTo>
                  <a:pt x="1105764" y="0"/>
                </a:lnTo>
                <a:lnTo>
                  <a:pt x="1105764" y="633302"/>
                </a:lnTo>
                <a:lnTo>
                  <a:pt x="0" y="633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484730" y="6291952"/>
            <a:ext cx="5680483" cy="3092507"/>
            <a:chOff x="0" y="0"/>
            <a:chExt cx="1022934" cy="556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2934" cy="556894"/>
            </a:xfrm>
            <a:custGeom>
              <a:avLst/>
              <a:gdLst/>
              <a:ahLst/>
              <a:cxnLst/>
              <a:rect r="r" b="b" t="t" l="l"/>
              <a:pathLst>
                <a:path h="556894" w="1022934">
                  <a:moveTo>
                    <a:pt x="69508" y="0"/>
                  </a:moveTo>
                  <a:lnTo>
                    <a:pt x="953426" y="0"/>
                  </a:lnTo>
                  <a:cubicBezTo>
                    <a:pt x="971861" y="0"/>
                    <a:pt x="989540" y="7323"/>
                    <a:pt x="1002575" y="20358"/>
                  </a:cubicBezTo>
                  <a:cubicBezTo>
                    <a:pt x="1015611" y="33394"/>
                    <a:pt x="1022934" y="51073"/>
                    <a:pt x="1022934" y="69508"/>
                  </a:cubicBezTo>
                  <a:lnTo>
                    <a:pt x="1022934" y="487387"/>
                  </a:lnTo>
                  <a:cubicBezTo>
                    <a:pt x="1022934" y="505821"/>
                    <a:pt x="1015611" y="523501"/>
                    <a:pt x="1002575" y="536536"/>
                  </a:cubicBezTo>
                  <a:cubicBezTo>
                    <a:pt x="989540" y="549571"/>
                    <a:pt x="971861" y="556894"/>
                    <a:pt x="953426" y="556894"/>
                  </a:cubicBezTo>
                  <a:lnTo>
                    <a:pt x="69508" y="556894"/>
                  </a:lnTo>
                  <a:cubicBezTo>
                    <a:pt x="51073" y="556894"/>
                    <a:pt x="33394" y="549571"/>
                    <a:pt x="20358" y="536536"/>
                  </a:cubicBezTo>
                  <a:cubicBezTo>
                    <a:pt x="7323" y="523501"/>
                    <a:pt x="0" y="505821"/>
                    <a:pt x="0" y="487387"/>
                  </a:cubicBezTo>
                  <a:lnTo>
                    <a:pt x="0" y="69508"/>
                  </a:lnTo>
                  <a:cubicBezTo>
                    <a:pt x="0" y="51073"/>
                    <a:pt x="7323" y="33394"/>
                    <a:pt x="20358" y="20358"/>
                  </a:cubicBezTo>
                  <a:cubicBezTo>
                    <a:pt x="33394" y="7323"/>
                    <a:pt x="51073" y="0"/>
                    <a:pt x="69508" y="0"/>
                  </a:cubicBezTo>
                  <a:close/>
                </a:path>
              </a:pathLst>
            </a:custGeom>
            <a:solidFill>
              <a:srgbClr val="8F76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22934" cy="594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94925">
            <a:off x="357472" y="308733"/>
            <a:ext cx="1777967" cy="926640"/>
            <a:chOff x="0" y="0"/>
            <a:chExt cx="2404289" cy="12530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04289" cy="1253067"/>
            </a:xfrm>
            <a:custGeom>
              <a:avLst/>
              <a:gdLst/>
              <a:ahLst/>
              <a:cxnLst/>
              <a:rect r="r" b="b" t="t" l="l"/>
              <a:pathLst>
                <a:path h="1253067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253067"/>
                  </a:lnTo>
                  <a:lnTo>
                    <a:pt x="0" y="12530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04289" cy="1291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148188">
            <a:off x="2145137" y="410300"/>
            <a:ext cx="1777967" cy="780945"/>
            <a:chOff x="0" y="0"/>
            <a:chExt cx="2404289" cy="10560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4289" cy="1056048"/>
            </a:xfrm>
            <a:custGeom>
              <a:avLst/>
              <a:gdLst/>
              <a:ahLst/>
              <a:cxnLst/>
              <a:rect r="r" b="b" t="t" l="l"/>
              <a:pathLst>
                <a:path h="1056048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056048"/>
                  </a:lnTo>
                  <a:lnTo>
                    <a:pt x="0" y="105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04289" cy="1094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9072">
            <a:off x="1296407" y="1248000"/>
            <a:ext cx="1641365" cy="506226"/>
            <a:chOff x="0" y="0"/>
            <a:chExt cx="4153769" cy="12810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53769" cy="1281095"/>
            </a:xfrm>
            <a:custGeom>
              <a:avLst/>
              <a:gdLst/>
              <a:ahLst/>
              <a:cxnLst/>
              <a:rect r="r" b="b" t="t" l="l"/>
              <a:pathLst>
                <a:path h="1281095" w="4153769">
                  <a:moveTo>
                    <a:pt x="0" y="0"/>
                  </a:moveTo>
                  <a:lnTo>
                    <a:pt x="4153769" y="0"/>
                  </a:lnTo>
                  <a:lnTo>
                    <a:pt x="4153769" y="1281095"/>
                  </a:lnTo>
                  <a:lnTo>
                    <a:pt x="0" y="1281095"/>
                  </a:lnTo>
                  <a:close/>
                </a:path>
              </a:pathLst>
            </a:custGeom>
            <a:solidFill>
              <a:srgbClr val="C5BAF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153769" cy="1319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526">
            <a:off x="8841591" y="710910"/>
            <a:ext cx="10107635" cy="12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67"/>
              </a:lnSpc>
            </a:pPr>
            <a:r>
              <a:rPr lang="en-US" sz="9035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ARQUITECTURA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84730" y="6490989"/>
            <a:ext cx="5506826" cy="265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4223"/>
              </a:lnSpc>
              <a:buFont typeface="Arial"/>
              <a:buChar char="•"/>
            </a:pPr>
            <a:r>
              <a:rPr lang="en-US" sz="3199">
                <a:solidFill>
                  <a:srgbClr val="DBD4D4"/>
                </a:solidFill>
                <a:latin typeface="TT Fors"/>
                <a:ea typeface="TT Fors"/>
                <a:cs typeface="TT Fors"/>
                <a:sym typeface="TT Fors"/>
              </a:rPr>
              <a:t>Mapeo y rutas</a:t>
            </a:r>
          </a:p>
          <a:p>
            <a:pPr algn="l" marL="690872" indent="-345436" lvl="1">
              <a:lnSpc>
                <a:spcPts val="4223"/>
              </a:lnSpc>
              <a:buFont typeface="Arial"/>
              <a:buChar char="•"/>
            </a:pPr>
            <a:r>
              <a:rPr lang="en-US" sz="3199">
                <a:solidFill>
                  <a:srgbClr val="DBD4D4"/>
                </a:solidFill>
                <a:latin typeface="TT Fors"/>
                <a:ea typeface="TT Fors"/>
                <a:cs typeface="TT Fors"/>
                <a:sym typeface="TT Fors"/>
              </a:rPr>
              <a:t>Notificaciones y emergencias</a:t>
            </a:r>
          </a:p>
          <a:p>
            <a:pPr algn="l" marL="690872" indent="-345436" lvl="1">
              <a:lnSpc>
                <a:spcPts val="4223"/>
              </a:lnSpc>
              <a:buFont typeface="Arial"/>
              <a:buChar char="•"/>
            </a:pPr>
            <a:r>
              <a:rPr lang="en-US" sz="3199">
                <a:solidFill>
                  <a:srgbClr val="DBD4D4"/>
                </a:solidFill>
                <a:latin typeface="TT Fors"/>
                <a:ea typeface="TT Fors"/>
                <a:cs typeface="TT Fors"/>
                <a:sym typeface="TT Fors"/>
              </a:rPr>
              <a:t>Analítica y métricas</a:t>
            </a:r>
          </a:p>
          <a:p>
            <a:pPr algn="l" marL="690872" indent="-345436" lvl="1">
              <a:lnSpc>
                <a:spcPts val="4223"/>
              </a:lnSpc>
              <a:buFont typeface="Arial"/>
              <a:buChar char="•"/>
            </a:pPr>
            <a:r>
              <a:rPr lang="en-US" sz="3199">
                <a:solidFill>
                  <a:srgbClr val="DBD4D4"/>
                </a:solidFill>
                <a:latin typeface="TT Fors"/>
                <a:ea typeface="TT Fors"/>
                <a:cs typeface="TT Fors"/>
                <a:sym typeface="TT Fors"/>
              </a:rPr>
              <a:t>Administración y usuarios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82303" y="3405421"/>
            <a:ext cx="8511680" cy="3189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4223"/>
              </a:lnSpc>
              <a:buFont typeface="Arial"/>
              <a:buChar char="•"/>
            </a:pPr>
            <a:r>
              <a:rPr lang="en-US" sz="3199">
                <a:solidFill>
                  <a:srgbClr val="DBD4D4"/>
                </a:solidFill>
                <a:latin typeface="TT Fors"/>
                <a:ea typeface="TT Fors"/>
                <a:cs typeface="TT Fors"/>
                <a:sym typeface="TT Fors"/>
              </a:rPr>
              <a:t>Cada módulo trabaja de forma independiente.</a:t>
            </a:r>
          </a:p>
          <a:p>
            <a:pPr algn="l" marL="690872" indent="-345436" lvl="1">
              <a:lnSpc>
                <a:spcPts val="4223"/>
              </a:lnSpc>
              <a:buFont typeface="Arial"/>
              <a:buChar char="•"/>
            </a:pPr>
            <a:r>
              <a:rPr lang="en-US" sz="3199">
                <a:solidFill>
                  <a:srgbClr val="DBD4D4"/>
                </a:solidFill>
                <a:latin typeface="TT Fors"/>
                <a:ea typeface="TT Fors"/>
                <a:cs typeface="TT Fors"/>
                <a:sym typeface="TT Fors"/>
              </a:rPr>
              <a:t>Si un módulo falla, los demás continúan operando.</a:t>
            </a:r>
          </a:p>
          <a:p>
            <a:pPr algn="l" marL="690872" indent="-345436" lvl="1">
              <a:lnSpc>
                <a:spcPts val="4223"/>
              </a:lnSpc>
              <a:buFont typeface="Arial"/>
              <a:buChar char="•"/>
            </a:pPr>
            <a:r>
              <a:rPr lang="en-US" sz="3199">
                <a:solidFill>
                  <a:srgbClr val="DBD4D4"/>
                </a:solidFill>
                <a:latin typeface="TT Fors"/>
                <a:ea typeface="TT Fors"/>
                <a:cs typeface="TT Fors"/>
                <a:sym typeface="TT Fors"/>
              </a:rPr>
              <a:t>Módulos principales:</a:t>
            </a:r>
          </a:p>
          <a:p>
            <a:pPr algn="l">
              <a:lnSpc>
                <a:spcPts val="422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668546" y="1946710"/>
            <a:ext cx="2993334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999">
                <a:solidFill>
                  <a:srgbClr val="DBD4D4"/>
                </a:solidFill>
                <a:latin typeface="TT Fors"/>
                <a:ea typeface="TT Fors"/>
                <a:cs typeface="TT Fors"/>
                <a:sym typeface="TT Fors"/>
              </a:rPr>
              <a:t> Microservicios.</a:t>
            </a:r>
          </a:p>
        </p:txBody>
      </p:sp>
      <p:sp>
        <p:nvSpPr>
          <p:cNvPr name="TextBox 22" id="22"/>
          <p:cNvSpPr txBox="true"/>
          <p:nvPr/>
        </p:nvSpPr>
        <p:spPr>
          <a:xfrm rot="-94925">
            <a:off x="403267" y="383678"/>
            <a:ext cx="1688480" cy="8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34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SAN BERNARDO</a:t>
            </a:r>
          </a:p>
        </p:txBody>
      </p:sp>
      <p:sp>
        <p:nvSpPr>
          <p:cNvPr name="TextBox 23" id="23"/>
          <p:cNvSpPr txBox="true"/>
          <p:nvPr/>
        </p:nvSpPr>
        <p:spPr>
          <a:xfrm rot="148188">
            <a:off x="2208160" y="493323"/>
            <a:ext cx="1651647" cy="62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1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MAPS 2D</a:t>
            </a:r>
          </a:p>
        </p:txBody>
      </p:sp>
      <p:sp>
        <p:nvSpPr>
          <p:cNvPr name="TextBox 24" id="24"/>
          <p:cNvSpPr txBox="true"/>
          <p:nvPr/>
        </p:nvSpPr>
        <p:spPr>
          <a:xfrm rot="-79072">
            <a:off x="1406130" y="1218876"/>
            <a:ext cx="1420605" cy="5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3"/>
              </a:lnSpc>
              <a:spcBef>
                <a:spcPct val="0"/>
              </a:spcBef>
            </a:pPr>
            <a:r>
              <a:rPr lang="en-US" sz="2973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NOV 2025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84009"/>
            <a:chOff x="0" y="0"/>
            <a:chExt cx="4816593" cy="27348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34883"/>
            </a:xfrm>
            <a:custGeom>
              <a:avLst/>
              <a:gdLst/>
              <a:ahLst/>
              <a:cxnLst/>
              <a:rect r="r" b="b" t="t" l="l"/>
              <a:pathLst>
                <a:path h="27348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34883"/>
                  </a:lnTo>
                  <a:lnTo>
                    <a:pt x="0" y="2734883"/>
                  </a:lnTo>
                  <a:close/>
                </a:path>
              </a:pathLst>
            </a:custGeom>
            <a:solidFill>
              <a:srgbClr val="8F76BF">
                <a:alpha val="4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72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32306" t="16900" r="47687" b="7029"/>
          <a:stretch>
            <a:fillRect/>
          </a:stretch>
        </p:blipFill>
        <p:spPr>
          <a:xfrm flipH="false" flipV="false" rot="0">
            <a:off x="8103823" y="142183"/>
            <a:ext cx="4676907" cy="10002634"/>
          </a:xfrm>
          <a:prstGeom prst="rect">
            <a:avLst/>
          </a:prstGeom>
          <a:ln cap="sq">
            <a:noFill/>
            <a:prstDash val="solid"/>
          </a:ln>
        </p:spPr>
      </p:pic>
      <p:grpSp>
        <p:nvGrpSpPr>
          <p:cNvPr name="Group 6" id="6"/>
          <p:cNvGrpSpPr/>
          <p:nvPr/>
        </p:nvGrpSpPr>
        <p:grpSpPr>
          <a:xfrm rot="0">
            <a:off x="580433" y="3903021"/>
            <a:ext cx="6053195" cy="3770808"/>
            <a:chOff x="0" y="0"/>
            <a:chExt cx="8070927" cy="502774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315929"/>
              <a:ext cx="8070927" cy="4711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29"/>
                </a:lnSpc>
              </a:pPr>
              <a:r>
                <a:rPr lang="en-US" b="true" sz="6829" spc="-34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Login</a:t>
              </a:r>
            </a:p>
            <a:p>
              <a:pPr algn="ctr">
                <a:lnSpc>
                  <a:spcPts val="6829"/>
                </a:lnSpc>
              </a:pPr>
              <a:r>
                <a:rPr lang="en-US" b="true" sz="6829" spc="-34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Pantalla Inicio</a:t>
              </a:r>
            </a:p>
            <a:p>
              <a:pPr algn="ctr">
                <a:lnSpc>
                  <a:spcPts val="6829"/>
                </a:lnSpc>
              </a:pPr>
              <a:r>
                <a:rPr lang="en-US" b="true" sz="6829" spc="-34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Mapas</a:t>
              </a:r>
            </a:p>
            <a:p>
              <a:pPr algn="ctr">
                <a:lnSpc>
                  <a:spcPts val="6829"/>
                </a:lnSpc>
              </a:pPr>
              <a:r>
                <a:rPr lang="en-US" b="true" sz="6829" spc="-34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Alertas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1214" y="-38100"/>
              <a:ext cx="7979713" cy="326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8"/>
                </a:lnSpc>
              </a:pPr>
              <a:r>
                <a:rPr lang="en-US" b="true" sz="1441" spc="207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DEMO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45449" y="514710"/>
            <a:ext cx="959644" cy="959644"/>
          </a:xfrm>
          <a:custGeom>
            <a:avLst/>
            <a:gdLst/>
            <a:ahLst/>
            <a:cxnLst/>
            <a:rect r="r" b="b" t="t" l="l"/>
            <a:pathLst>
              <a:path h="959644" w="959644">
                <a:moveTo>
                  <a:pt x="0" y="0"/>
                </a:moveTo>
                <a:lnTo>
                  <a:pt x="959643" y="0"/>
                </a:lnTo>
                <a:lnTo>
                  <a:pt x="959643" y="959644"/>
                </a:lnTo>
                <a:lnTo>
                  <a:pt x="0" y="9596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94925">
            <a:off x="357472" y="308733"/>
            <a:ext cx="1777967" cy="926640"/>
            <a:chOff x="0" y="0"/>
            <a:chExt cx="2404289" cy="12530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4289" cy="1253067"/>
            </a:xfrm>
            <a:custGeom>
              <a:avLst/>
              <a:gdLst/>
              <a:ahLst/>
              <a:cxnLst/>
              <a:rect r="r" b="b" t="t" l="l"/>
              <a:pathLst>
                <a:path h="1253067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253067"/>
                  </a:lnTo>
                  <a:lnTo>
                    <a:pt x="0" y="12530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404289" cy="1291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148188">
            <a:off x="2145137" y="410300"/>
            <a:ext cx="1777967" cy="780945"/>
            <a:chOff x="0" y="0"/>
            <a:chExt cx="2404289" cy="10560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04289" cy="1056048"/>
            </a:xfrm>
            <a:custGeom>
              <a:avLst/>
              <a:gdLst/>
              <a:ahLst/>
              <a:cxnLst/>
              <a:rect r="r" b="b" t="t" l="l"/>
              <a:pathLst>
                <a:path h="1056048" w="2404289">
                  <a:moveTo>
                    <a:pt x="0" y="0"/>
                  </a:moveTo>
                  <a:lnTo>
                    <a:pt x="2404289" y="0"/>
                  </a:lnTo>
                  <a:lnTo>
                    <a:pt x="2404289" y="1056048"/>
                  </a:lnTo>
                  <a:lnTo>
                    <a:pt x="0" y="1056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404289" cy="1094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9072">
            <a:off x="1296407" y="1248000"/>
            <a:ext cx="1641365" cy="506226"/>
            <a:chOff x="0" y="0"/>
            <a:chExt cx="4153769" cy="12810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53769" cy="1281095"/>
            </a:xfrm>
            <a:custGeom>
              <a:avLst/>
              <a:gdLst/>
              <a:ahLst/>
              <a:cxnLst/>
              <a:rect r="r" b="b" t="t" l="l"/>
              <a:pathLst>
                <a:path h="1281095" w="4153769">
                  <a:moveTo>
                    <a:pt x="0" y="0"/>
                  </a:moveTo>
                  <a:lnTo>
                    <a:pt x="4153769" y="0"/>
                  </a:lnTo>
                  <a:lnTo>
                    <a:pt x="4153769" y="1281095"/>
                  </a:lnTo>
                  <a:lnTo>
                    <a:pt x="0" y="1281095"/>
                  </a:lnTo>
                  <a:close/>
                </a:path>
              </a:pathLst>
            </a:custGeom>
            <a:solidFill>
              <a:srgbClr val="C5BAF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153769" cy="1319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-94925">
            <a:off x="403267" y="383678"/>
            <a:ext cx="1688480" cy="87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34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SAN BERNARDO</a:t>
            </a:r>
          </a:p>
        </p:txBody>
      </p:sp>
      <p:sp>
        <p:nvSpPr>
          <p:cNvPr name="TextBox 20" id="20"/>
          <p:cNvSpPr txBox="true"/>
          <p:nvPr/>
        </p:nvSpPr>
        <p:spPr>
          <a:xfrm rot="148188">
            <a:off x="2208160" y="493323"/>
            <a:ext cx="1651647" cy="62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1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MAPS 2D</a:t>
            </a:r>
          </a:p>
        </p:txBody>
      </p:sp>
      <p:sp>
        <p:nvSpPr>
          <p:cNvPr name="TextBox 21" id="21"/>
          <p:cNvSpPr txBox="true"/>
          <p:nvPr/>
        </p:nvSpPr>
        <p:spPr>
          <a:xfrm rot="-79072">
            <a:off x="1406130" y="1218876"/>
            <a:ext cx="1420605" cy="50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3"/>
              </a:lnSpc>
              <a:spcBef>
                <a:spcPct val="0"/>
              </a:spcBef>
            </a:pPr>
            <a:r>
              <a:rPr lang="en-US" sz="2973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NOV 2025</a:t>
            </a:r>
          </a:p>
        </p:txBody>
      </p:sp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2" y="-523293"/>
            <a:ext cx="18657999" cy="11333585"/>
          </a:xfrm>
          <a:custGeom>
            <a:avLst/>
            <a:gdLst/>
            <a:ahLst/>
            <a:cxnLst/>
            <a:rect r="r" b="b" t="t" l="l"/>
            <a:pathLst>
              <a:path h="11333585" w="18657999">
                <a:moveTo>
                  <a:pt x="0" y="0"/>
                </a:moveTo>
                <a:lnTo>
                  <a:pt x="18658000" y="0"/>
                </a:lnTo>
                <a:lnTo>
                  <a:pt x="18658000" y="11333586"/>
                </a:lnTo>
                <a:lnTo>
                  <a:pt x="0" y="1133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-831" t="0" r="-83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52809" y="557146"/>
            <a:ext cx="2080460" cy="588090"/>
          </a:xfrm>
          <a:custGeom>
            <a:avLst/>
            <a:gdLst/>
            <a:ahLst/>
            <a:cxnLst/>
            <a:rect r="r" b="b" t="t" l="l"/>
            <a:pathLst>
              <a:path h="588090" w="2080460">
                <a:moveTo>
                  <a:pt x="0" y="0"/>
                </a:moveTo>
                <a:lnTo>
                  <a:pt x="2080460" y="0"/>
                </a:lnTo>
                <a:lnTo>
                  <a:pt x="2080460" y="588090"/>
                </a:lnTo>
                <a:lnTo>
                  <a:pt x="0" y="588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8471" r="0" b="-12529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61120" y="345731"/>
            <a:ext cx="525567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Patrocinado por:</a:t>
            </a:r>
          </a:p>
        </p:txBody>
      </p:sp>
      <p:grpSp>
        <p:nvGrpSpPr>
          <p:cNvPr name="Group 5" id="5"/>
          <p:cNvGrpSpPr/>
          <p:nvPr/>
        </p:nvGrpSpPr>
        <p:grpSpPr>
          <a:xfrm rot="-94925">
            <a:off x="5006826" y="1703775"/>
            <a:ext cx="8274348" cy="3597013"/>
            <a:chOff x="0" y="0"/>
            <a:chExt cx="2299914" cy="999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9914" cy="999816"/>
            </a:xfrm>
            <a:custGeom>
              <a:avLst/>
              <a:gdLst/>
              <a:ahLst/>
              <a:cxnLst/>
              <a:rect r="r" b="b" t="t" l="l"/>
              <a:pathLst>
                <a:path h="999816" w="2299914">
                  <a:moveTo>
                    <a:pt x="0" y="0"/>
                  </a:moveTo>
                  <a:lnTo>
                    <a:pt x="2299914" y="0"/>
                  </a:lnTo>
                  <a:lnTo>
                    <a:pt x="2299914" y="999816"/>
                  </a:lnTo>
                  <a:lnTo>
                    <a:pt x="0" y="9998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99914" cy="1037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106436">
            <a:off x="4086659" y="2584528"/>
            <a:ext cx="10131489" cy="225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6"/>
              </a:lnSpc>
            </a:pPr>
            <a:r>
              <a:rPr lang="en-US" sz="18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MUCHAS</a:t>
            </a:r>
          </a:p>
        </p:txBody>
      </p:sp>
      <p:grpSp>
        <p:nvGrpSpPr>
          <p:cNvPr name="Group 9" id="9"/>
          <p:cNvGrpSpPr/>
          <p:nvPr/>
        </p:nvGrpSpPr>
        <p:grpSpPr>
          <a:xfrm rot="118779">
            <a:off x="4619011" y="4941526"/>
            <a:ext cx="9222752" cy="3597013"/>
            <a:chOff x="0" y="0"/>
            <a:chExt cx="2563530" cy="9998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3530" cy="999816"/>
            </a:xfrm>
            <a:custGeom>
              <a:avLst/>
              <a:gdLst/>
              <a:ahLst/>
              <a:cxnLst/>
              <a:rect r="r" b="b" t="t" l="l"/>
              <a:pathLst>
                <a:path h="999816" w="2563530">
                  <a:moveTo>
                    <a:pt x="0" y="0"/>
                  </a:moveTo>
                  <a:lnTo>
                    <a:pt x="2563530" y="0"/>
                  </a:lnTo>
                  <a:lnTo>
                    <a:pt x="2563530" y="999816"/>
                  </a:lnTo>
                  <a:lnTo>
                    <a:pt x="0" y="9998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63530" cy="1037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148188">
            <a:off x="4452915" y="5028487"/>
            <a:ext cx="9397767" cy="32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7"/>
              </a:lnSpc>
              <a:spcBef>
                <a:spcPct val="0"/>
              </a:spcBef>
            </a:pPr>
            <a:r>
              <a:rPr lang="en-US" sz="1907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GRACIAS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7204" y="121157"/>
            <a:ext cx="3685452" cy="907543"/>
          </a:xfrm>
          <a:custGeom>
            <a:avLst/>
            <a:gdLst/>
            <a:ahLst/>
            <a:cxnLst/>
            <a:rect r="r" b="b" t="t" l="l"/>
            <a:pathLst>
              <a:path h="907543" w="3685452">
                <a:moveTo>
                  <a:pt x="0" y="0"/>
                </a:moveTo>
                <a:lnTo>
                  <a:pt x="3685452" y="0"/>
                </a:lnTo>
                <a:lnTo>
                  <a:pt x="3685452" y="907543"/>
                </a:lnTo>
                <a:lnTo>
                  <a:pt x="0" y="907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DAG1sugXaB4</dc:identifier>
  <dcterms:modified xsi:type="dcterms:W3CDTF">2011-08-01T06:04:30Z</dcterms:modified>
  <cp:revision>1</cp:revision>
  <dc:title>San Bernardo Maps 2D</dc:title>
</cp:coreProperties>
</file>